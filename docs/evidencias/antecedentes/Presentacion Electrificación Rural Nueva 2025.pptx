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9" r:id="rId2"/>
    <p:sldId id="258" r:id="rId3"/>
    <p:sldId id="260" r:id="rId4"/>
    <p:sldId id="271" r:id="rId5"/>
    <p:sldId id="261" r:id="rId6"/>
    <p:sldId id="274" r:id="rId7"/>
    <p:sldId id="273" r:id="rId8"/>
    <p:sldId id="272" r:id="rId9"/>
    <p:sldId id="262" r:id="rId10"/>
    <p:sldId id="263" r:id="rId11"/>
    <p:sldId id="265" r:id="rId12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8812D"/>
    <a:srgbClr val="6B0E3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C86E600-FE09-86C0-5BEF-FE0BC0DBBE09}" v="6622" dt="2025-03-24T23:20:33.934"/>
    <p1510:client id="{E4EF2B1D-97FC-C746-B679-97486457D192}" v="822" dt="2025-03-24T23:08:11.64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EE9595-D610-B645-804E-797B83061AFE}" type="datetimeFigureOut">
              <a:rPr lang="es-MX" smtClean="0"/>
              <a:t>24/03/2025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801390-B279-C149-86D6-C48B00B94FE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7904560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801390-B279-C149-86D6-C48B00B94FE9}" type="slidenum">
              <a:rPr lang="es-MX" smtClean="0"/>
              <a:t>5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814315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11B66C-9B21-5E2E-BEAB-1182396A63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DA5A9E4-EFCA-982E-E35B-692EB2FD3E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512E9EA-3E6F-074B-CC24-5CC955475F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BBB812-F286-D541-BCB4-54FB29CFFD46}" type="datetimeFigureOut">
              <a:rPr lang="es-MX" smtClean="0"/>
              <a:t>24/03/2025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9ECC94B-C6D4-5051-560B-23299089D5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FAE5AB8-0ED2-49D6-17E6-051FD9DE0F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19304D-A1E5-B845-B5EC-6E5440560C7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10984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4D8A68-5FB9-F4FE-BDBC-F2522BEBD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C3A0F10-E464-9865-6DD3-C8D9757152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A00869D-24ED-68CB-7152-5CC65AFB7B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BBB812-F286-D541-BCB4-54FB29CFFD46}" type="datetimeFigureOut">
              <a:rPr lang="es-MX" smtClean="0"/>
              <a:t>24/03/2025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1A573DC-3AF9-A1D0-C881-81656AA14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3AF8F89-BC4E-4067-0A02-198EB0821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19304D-A1E5-B845-B5EC-6E5440560C7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942355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358DCE7-10E4-EA0E-C288-51633CB78E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B86164E-B391-5E08-2D9E-FC5AE99418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06DBA4D-2758-52BF-8A77-FCFF4E2025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BBB812-F286-D541-BCB4-54FB29CFFD46}" type="datetimeFigureOut">
              <a:rPr lang="es-MX" smtClean="0"/>
              <a:t>24/03/2025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0972B4A-4D42-F7BC-E912-B8B6B391C0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88891E0-D77A-60E0-103B-28050789C9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19304D-A1E5-B845-B5EC-6E5440560C7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360867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C198C2-8967-4650-99AA-F6BBDF9FF4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840DBE8-A549-2FC5-FAF0-31E78802481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3AB6501-9F79-11BF-F52B-88E2E348B4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441A282-7263-D919-82C0-43FF4A8E87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BBB812-F286-D541-BCB4-54FB29CFFD46}" type="datetimeFigureOut">
              <a:rPr lang="es-MX" smtClean="0"/>
              <a:t>24/03/2025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56E70BC-BE56-2CE3-9BA2-F169C75443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37A87E5-CC73-0F61-78D3-849645C9DF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19304D-A1E5-B845-B5EC-6E5440560C7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303287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F9EEB3-F791-CD31-DEC6-3ACC17F83E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0F5084E-BBBC-870E-58D0-D0E9B295F7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8D65559-D947-966B-5D3D-43B544AF9C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DB6049B1-B0C0-A497-8538-C1D6381AD4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395C5B29-E4A7-2FA4-B766-FA07A0D3B3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37CA5521-C369-1027-6125-6B7B74F9FA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BBB812-F286-D541-BCB4-54FB29CFFD46}" type="datetimeFigureOut">
              <a:rPr lang="es-MX" smtClean="0"/>
              <a:t>24/03/2025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7DED2A7F-C27B-FB7F-87A9-0698BD0EAD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11D22AB0-BCF8-A0D5-F048-65D0DB78B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19304D-A1E5-B845-B5EC-6E5440560C7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1288350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BA609D-CE7C-53B4-69A1-8E8DF4D55D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F4A1389-84D2-A42A-1737-80EA8B2D34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BBB812-F286-D541-BCB4-54FB29CFFD46}" type="datetimeFigureOut">
              <a:rPr lang="es-MX" smtClean="0"/>
              <a:t>24/03/2025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0D91B2C5-C829-99C6-9AAE-2CB0103148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6E3DE266-FE21-61C5-DB37-2F1AA24B44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19304D-A1E5-B845-B5EC-6E5440560C7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086266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ADC1906A-B1D5-DD75-40BB-EC8385D63A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BBB812-F286-D541-BCB4-54FB29CFFD46}" type="datetimeFigureOut">
              <a:rPr lang="es-MX" smtClean="0"/>
              <a:t>24/03/2025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683EC88A-96DE-BF35-EA67-C20366232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820C36F-F469-CAE2-1C39-4CFDDB37F7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19304D-A1E5-B845-B5EC-6E5440560C7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5346282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A3991D-44DC-D33F-BE10-12487D00F3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43FAAFF-F183-49E6-6735-FD598837F2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09CA2CE-162B-694E-19FB-2CD25086D7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B326A1D-7914-9FEE-8F83-B4658B4E33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BBB812-F286-D541-BCB4-54FB29CFFD46}" type="datetimeFigureOut">
              <a:rPr lang="es-MX" smtClean="0"/>
              <a:t>24/03/2025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CD13312-833E-90E1-2E38-705262377F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9686B90-21CD-E9D0-1BCA-223D271053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19304D-A1E5-B845-B5EC-6E5440560C7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939508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B48F3E-5529-E282-9C4D-55D57698E8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4EC19930-F1B1-60FC-178F-BAD1651A2F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76AB061-FF6D-2003-FAF9-43C8B88AE4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FD7A56A-21DC-26FC-4132-328204EE6E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BBB812-F286-D541-BCB4-54FB29CFFD46}" type="datetimeFigureOut">
              <a:rPr lang="es-MX" smtClean="0"/>
              <a:t>24/03/2025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0DB4CA7-4246-1ADF-1D6F-7DD34685B5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5FBF142-2B82-2E84-952C-2D5E4ECBE5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19304D-A1E5-B845-B5EC-6E5440560C7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5837694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A43FA3-C88A-4D19-F3C9-1FF0164548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17F4EE5-F622-30C4-8906-3665D86099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5791F61-E4C3-2DFD-B852-A084853E07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BBB812-F286-D541-BCB4-54FB29CFFD46}" type="datetimeFigureOut">
              <a:rPr lang="es-MX" smtClean="0"/>
              <a:t>24/03/2025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F143B35-811A-572E-8029-D07DB1D85B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0939AD5-FB75-04FB-AC76-18C1638B7F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19304D-A1E5-B845-B5EC-6E5440560C7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425476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EE93BBA-07D4-083D-B3C8-123252C4AAA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8817F20-695C-4666-3140-75864D600F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2200F6E-5C36-F702-347B-43D723CA5B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BBB812-F286-D541-BCB4-54FB29CFFD46}" type="datetimeFigureOut">
              <a:rPr lang="es-MX" smtClean="0"/>
              <a:t>24/03/2025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E3CF190-E43E-2D63-5A46-9938629846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834077C-3AB1-3236-FC89-830486A546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19304D-A1E5-B845-B5EC-6E5440560C7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0903943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1_Título y objetos">
    <p:bg>
      <p:bgPr>
        <a:blipFill>
          <a:blip r:embed="rId2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es-MX"/>
              <a:t>1</a:t>
            </a:r>
            <a:endParaRPr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0E182ED-D83A-714A-8929-3ACA2D383C01}" type="slidenum">
              <a:rPr lang="es-MX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1642470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981FAC60-3F7D-8770-476D-66E690FDBE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194BD00-BAB9-5972-F587-E1FB86AADB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E4AEE5C-6E48-F2A2-69BF-53C85E4ADD8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FBBB812-F286-D541-BCB4-54FB29CFFD46}" type="datetimeFigureOut">
              <a:rPr lang="es-MX" smtClean="0"/>
              <a:t>24/03/2025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830CAEC-2D1A-BE08-25F7-17AF46A8DE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82FD439-E315-2792-DE61-CD08A00FBF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F19304D-A1E5-B845-B5EC-6E5440560C7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257545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01D559A0-C080-4C35-BBC1-910C27DA43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936741" y="220359"/>
            <a:ext cx="3057119" cy="369291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A6AE07E9-B49E-3829-DB5D-0CEE5788A03C}"/>
              </a:ext>
            </a:extLst>
          </p:cNvPr>
          <p:cNvSpPr txBox="1">
            <a:spLocks/>
          </p:cNvSpPr>
          <p:nvPr/>
        </p:nvSpPr>
        <p:spPr>
          <a:xfrm>
            <a:off x="5133975" y="4016857"/>
            <a:ext cx="5053010" cy="23876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MX" sz="1800" b="1">
                <a:solidFill>
                  <a:srgbClr val="6B0E34"/>
                </a:solidFill>
                <a:latin typeface="Montserrat" pitchFamily="2" charset="77"/>
                <a:ea typeface="Calibri" panose="020F0502020204030204" pitchFamily="34" charset="0"/>
              </a:rPr>
              <a:t>Anteproyecto: Electrificación en Zonas Rurales. Programa Piloto: Cadereyta, Colón, Jalpan Querétaro</a:t>
            </a:r>
            <a:r>
              <a:rPr lang="es-MX" b="1">
                <a:solidFill>
                  <a:srgbClr val="6B0E34"/>
                </a:solidFill>
                <a:latin typeface="Montserrat" pitchFamily="2" charset="77"/>
              </a:rPr>
              <a:t>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52769E5-D374-723E-B0D5-93A5C1B2014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76" r="9303"/>
          <a:stretch/>
        </p:blipFill>
        <p:spPr bwMode="auto">
          <a:xfrm>
            <a:off x="649031" y="1178969"/>
            <a:ext cx="4111087" cy="50616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FD00ECF0-2CE4-D98D-BCD9-32C4B1E29E42}"/>
              </a:ext>
            </a:extLst>
          </p:cNvPr>
          <p:cNvSpPr txBox="1"/>
          <p:nvPr/>
        </p:nvSpPr>
        <p:spPr>
          <a:xfrm>
            <a:off x="4760118" y="2755681"/>
            <a:ext cx="5800725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2800" b="1">
                <a:solidFill>
                  <a:srgbClr val="A8812D"/>
                </a:solidFill>
                <a:effectLst/>
                <a:latin typeface="Montserrat" pitchFamily="2" charset="77"/>
              </a:rPr>
              <a:t>Proyectos Estratégicos de Tecnología e Innovación</a:t>
            </a:r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EA2985D8-7A22-4544-29C7-DF2F1E1F94E7}"/>
              </a:ext>
            </a:extLst>
          </p:cNvPr>
          <p:cNvCxnSpPr/>
          <p:nvPr/>
        </p:nvCxnSpPr>
        <p:spPr>
          <a:xfrm>
            <a:off x="4943475" y="1178969"/>
            <a:ext cx="0" cy="4936081"/>
          </a:xfrm>
          <a:prstGeom prst="line">
            <a:avLst/>
          </a:prstGeom>
          <a:ln>
            <a:solidFill>
              <a:srgbClr val="6B0E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507676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24F8D89-0E41-7D89-9314-1C42579660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57550" y="1888835"/>
            <a:ext cx="6736310" cy="46103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2200" b="1" i="0" u="none" strike="noStrike" cap="none" normalizeH="0" baseline="0">
                <a:ln>
                  <a:noFill/>
                </a:ln>
                <a:solidFill>
                  <a:srgbClr val="A8812D"/>
                </a:solidFill>
                <a:effectLst/>
                <a:latin typeface="Montserrat"/>
              </a:rPr>
              <a:t>Índice</a:t>
            </a:r>
            <a:endParaRPr kumimoji="0" lang="es-MX" altLang="es-MX" sz="220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Montserrat"/>
            </a:endParaRPr>
          </a:p>
          <a:p>
            <a:pPr marL="457200" marR="0" lvl="0" indent="-4572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lang="es-ES" altLang="es-MX" sz="2200" b="1">
                <a:solidFill>
                  <a:srgbClr val="691B31"/>
                </a:solidFill>
                <a:latin typeface="Montserrat"/>
                <a:ea typeface="Calibri" panose="020F0502020204030204"/>
                <a:cs typeface="Calibri" panose="020F0502020204030204"/>
              </a:rPr>
              <a:t>Objetivo del proyecto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lang="es-ES" altLang="es-MX" sz="2200" b="1">
                <a:solidFill>
                  <a:srgbClr val="691B31"/>
                </a:solidFill>
                <a:latin typeface="Montserrat"/>
                <a:ea typeface="Calibri" panose="020F0502020204030204"/>
                <a:cs typeface="Calibri" panose="020F0502020204030204"/>
              </a:rPr>
              <a:t>Justificación</a:t>
            </a:r>
          </a:p>
          <a:p>
            <a:pPr marL="457200" indent="-457200"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AutoNum type="arabicPeriod"/>
            </a:pPr>
            <a:r>
              <a:rPr lang="es-ES" altLang="es-MX" sz="2200" b="1">
                <a:solidFill>
                  <a:srgbClr val="691B31"/>
                </a:solidFill>
                <a:latin typeface="Montserrat"/>
                <a:ea typeface="Calibri" panose="020F0502020204030204"/>
                <a:cs typeface="Calibri" panose="020F0502020204030204"/>
              </a:rPr>
              <a:t>Antecedentes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lang="es-ES" altLang="es-MX" sz="2200" b="1">
                <a:solidFill>
                  <a:srgbClr val="691B31"/>
                </a:solidFill>
                <a:latin typeface="Montserrat"/>
                <a:ea typeface="Calibri" panose="020F0502020204030204"/>
                <a:cs typeface="Calibri" panose="020F0502020204030204"/>
              </a:rPr>
              <a:t>Misión</a:t>
            </a:r>
            <a:endParaRPr kumimoji="0" lang="es-MX" altLang="es-MX" sz="2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Montserra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marR="0" lvl="0" indent="-4572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lang="es-MX" altLang="es-MX" sz="2200" b="1">
                <a:solidFill>
                  <a:srgbClr val="691B31"/>
                </a:solidFill>
                <a:latin typeface="Montserrat"/>
                <a:ea typeface="Calibri" panose="020F0502020204030204"/>
                <a:cs typeface="Calibri" panose="020F0502020204030204"/>
              </a:rPr>
              <a:t>Metas</a:t>
            </a:r>
            <a:endParaRPr kumimoji="0" lang="es-MX" altLang="es-MX" sz="220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Montserrat"/>
            </a:endParaRPr>
          </a:p>
          <a:p>
            <a:pPr marL="457200" marR="0" lvl="0" indent="-4572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lang="es-ES" altLang="es-MX" sz="2200" b="1">
                <a:solidFill>
                  <a:srgbClr val="691B31"/>
                </a:solidFill>
                <a:latin typeface="Montserrat"/>
                <a:ea typeface="Calibri" panose="020F0502020204030204"/>
                <a:cs typeface="Calibri" panose="020F0502020204030204"/>
              </a:rPr>
              <a:t>Gobernanza del proyecto</a:t>
            </a:r>
            <a:endParaRPr kumimoji="0" lang="es-ES" altLang="es-MX" sz="2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Montserra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indent="-4572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s-ES" altLang="es-MX" sz="2200" b="1">
                <a:solidFill>
                  <a:srgbClr val="691B31"/>
                </a:solidFill>
                <a:latin typeface="Montserrat"/>
                <a:ea typeface="Calibri" panose="020F0502020204030204"/>
                <a:cs typeface="Calibri" panose="020F0502020204030204"/>
              </a:rPr>
              <a:t>Tiempos y Financiamiento del proyecto</a:t>
            </a:r>
            <a:endParaRPr lang="es-MX" altLang="es-MX" sz="2200" b="1">
              <a:solidFill>
                <a:srgbClr val="691B31"/>
              </a:solidFill>
              <a:latin typeface="Montserrat"/>
              <a:ea typeface="Calibri" panose="020F0502020204030204"/>
              <a:cs typeface="Calibri" panose="020F0502020204030204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MX" sz="2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Geomanist" panose="02000503000000020004" pitchFamily="50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B888215B-E5C8-E686-EC2F-EC9538191CAD}"/>
              </a:ext>
            </a:extLst>
          </p:cNvPr>
          <p:cNvSpPr txBox="1">
            <a:spLocks/>
          </p:cNvSpPr>
          <p:nvPr/>
        </p:nvSpPr>
        <p:spPr>
          <a:xfrm>
            <a:off x="350313" y="589650"/>
            <a:ext cx="8822261" cy="64633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sz="2800" b="1">
                <a:solidFill>
                  <a:srgbClr val="6B0E34"/>
                </a:solidFill>
                <a:latin typeface="Montserrat" pitchFamily="2" charset="77"/>
                <a:ea typeface="Calibri" panose="020F0502020204030204" pitchFamily="34" charset="0"/>
              </a:rPr>
              <a:t>Anteproyecto: </a:t>
            </a:r>
          </a:p>
          <a:p>
            <a:r>
              <a:rPr lang="es-MX" sz="2800" b="1">
                <a:solidFill>
                  <a:srgbClr val="6B0E34"/>
                </a:solidFill>
                <a:latin typeface="Montserrat" pitchFamily="2" charset="77"/>
                <a:ea typeface="Calibri" panose="020F0502020204030204" pitchFamily="34" charset="0"/>
              </a:rPr>
              <a:t>Electrificación en Zonas Rurales. 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AA4C13BA-B60D-120C-4BD3-591B91BF2133}"/>
              </a:ext>
            </a:extLst>
          </p:cNvPr>
          <p:cNvSpPr txBox="1"/>
          <p:nvPr/>
        </p:nvSpPr>
        <p:spPr>
          <a:xfrm>
            <a:off x="336025" y="1377742"/>
            <a:ext cx="86725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es-MX" sz="1800">
                <a:solidFill>
                  <a:srgbClr val="6B0E34"/>
                </a:solidFill>
                <a:latin typeface="Montserrat" pitchFamily="2" charset="77"/>
                <a:ea typeface="Calibri" panose="020F0502020204030204" pitchFamily="34" charset="0"/>
              </a:rPr>
              <a:t>Programa Piloto: Cadereyta, Colón, Jalpan. Querétaro</a:t>
            </a:r>
            <a:r>
              <a:rPr lang="es-MX">
                <a:solidFill>
                  <a:srgbClr val="6B0E34"/>
                </a:solidFill>
                <a:latin typeface="Montserrat" pitchFamily="2" charset="77"/>
              </a:rPr>
              <a:t> 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91507040-BCA8-FDD2-52E7-051C657991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936741" y="543524"/>
            <a:ext cx="3057119" cy="369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57749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B76C11-58F7-0D41-6888-532AA4FD8E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47CBFF8B-9309-70C4-EB41-ECBC44821DC9}"/>
              </a:ext>
            </a:extLst>
          </p:cNvPr>
          <p:cNvSpPr txBox="1"/>
          <p:nvPr/>
        </p:nvSpPr>
        <p:spPr>
          <a:xfrm>
            <a:off x="1034143" y="1671637"/>
            <a:ext cx="5061858" cy="403187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1600" b="1">
                <a:latin typeface="Montserrat"/>
                <a:ea typeface="Calibri"/>
                <a:cs typeface="Calibri"/>
              </a:rPr>
              <a:t>El proyecto propuesto plantea abordar la electrificación a todas las zonas del país, planteando soluciones de sistemas fotovoltaicos aislados cubriendo los siguientes aspectos:</a:t>
            </a:r>
            <a:endParaRPr lang="es-ES" sz="1600" b="1">
              <a:latin typeface="Montserrat"/>
            </a:endParaRPr>
          </a:p>
          <a:p>
            <a:endParaRPr lang="es-ES" sz="1600">
              <a:latin typeface="Montserrat" pitchFamily="2" charset="77"/>
              <a:ea typeface="Calibri"/>
              <a:cs typeface="Calibri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>
                <a:latin typeface="Montserrat"/>
                <a:ea typeface="Calibri"/>
                <a:cs typeface="Calibri"/>
              </a:rPr>
              <a:t>Diseño e implementación de un sistema de generación de energía fotovoltaica con un 51% de sus componentes de integración nacional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>
                <a:latin typeface="Montserrat"/>
                <a:ea typeface="Calibri"/>
                <a:cs typeface="Calibri"/>
              </a:rPr>
              <a:t>Modelos para la operación y mantenimiento de infraestructura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>
                <a:latin typeface="Montserrat"/>
                <a:ea typeface="Calibri"/>
                <a:cs typeface="Calibri"/>
              </a:rPr>
              <a:t>Marco metodológico de resolución de conflictos en proyectos comunitarios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>
                <a:latin typeface="Montserrat"/>
                <a:ea typeface="Calibri"/>
                <a:cs typeface="Calibri"/>
              </a:rPr>
              <a:t>Marco metodológico para la participación comunitaria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647B2F2F-4887-B343-56D8-333920DA17CC}"/>
              </a:ext>
            </a:extLst>
          </p:cNvPr>
          <p:cNvSpPr txBox="1"/>
          <p:nvPr/>
        </p:nvSpPr>
        <p:spPr>
          <a:xfrm>
            <a:off x="1034143" y="799908"/>
            <a:ext cx="6100762" cy="747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s-ES" altLang="es-MX" sz="3200" b="1">
                <a:solidFill>
                  <a:srgbClr val="6B0E34"/>
                </a:solidFill>
                <a:latin typeface="Montserrat" pitchFamily="2" charset="77"/>
                <a:ea typeface="Calibri" panose="020F0502020204030204"/>
                <a:cs typeface="Calibri" panose="020F0502020204030204"/>
              </a:rPr>
              <a:t>1. Objetivo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221C99EC-7545-5ECF-87E8-DA60C6366E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936741" y="543524"/>
            <a:ext cx="3057119" cy="369291"/>
          </a:xfrm>
          <a:prstGeom prst="rect">
            <a:avLst/>
          </a:prstGeom>
        </p:spPr>
      </p:pic>
      <p:pic>
        <p:nvPicPr>
          <p:cNvPr id="4098" name="Picture 2" descr="No hay ninguna descripción de la foto disponible.">
            <a:extLst>
              <a:ext uri="{FF2B5EF4-FFF2-40B4-BE49-F238E27FC236}">
                <a16:creationId xmlns:a16="http://schemas.microsoft.com/office/drawing/2014/main" id="{FE5DA1F2-C210-5DDC-8BAB-961BF59688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37944" y="1036840"/>
            <a:ext cx="4058476" cy="27064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DCE31A35-C836-E38E-9010-F0B8C12A5C0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141094" y="3867351"/>
            <a:ext cx="4055325" cy="2707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66104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1B356FCB-DB1F-F074-373E-51AFC3CF4487}"/>
              </a:ext>
            </a:extLst>
          </p:cNvPr>
          <p:cNvSpPr txBox="1"/>
          <p:nvPr/>
        </p:nvSpPr>
        <p:spPr>
          <a:xfrm>
            <a:off x="1034143" y="799908"/>
            <a:ext cx="6100762" cy="747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s-ES" altLang="es-MX" sz="3200" b="1">
                <a:solidFill>
                  <a:srgbClr val="6B0E34"/>
                </a:solidFill>
                <a:latin typeface="Montserrat" pitchFamily="2" charset="77"/>
                <a:ea typeface="Calibri" panose="020F0502020204030204"/>
                <a:cs typeface="Calibri" panose="020F0502020204030204"/>
              </a:rPr>
              <a:t>2. Justificación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BC548C30-FE41-B733-1DD5-8828803F8C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936741" y="543524"/>
            <a:ext cx="3057119" cy="369291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77FA9B1A-34F9-DDAC-B2BC-423B732B9605}"/>
              </a:ext>
            </a:extLst>
          </p:cNvPr>
          <p:cNvSpPr txBox="1"/>
          <p:nvPr/>
        </p:nvSpPr>
        <p:spPr>
          <a:xfrm>
            <a:off x="873578" y="1673678"/>
            <a:ext cx="8213272" cy="518603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1600">
                <a:latin typeface="Montserrat"/>
                <a:ea typeface="Calibri"/>
                <a:cs typeface="Calibri"/>
              </a:rPr>
              <a:t>El acceso a  la energía eléctrica es un derecho fundamental de las y los ciudadanos y reviste una particular importancia porque su falta, profundiza las condiciones de marginación y pobreza energética.</a:t>
            </a:r>
          </a:p>
          <a:p>
            <a:endParaRPr lang="es-ES" sz="1600">
              <a:latin typeface="Montserrat" pitchFamily="2" charset="77"/>
              <a:ea typeface="Calibri"/>
              <a:cs typeface="Calibri"/>
            </a:endParaRPr>
          </a:p>
          <a:p>
            <a:r>
              <a:rPr lang="es-ES" sz="1600">
                <a:latin typeface="Montserrat"/>
                <a:ea typeface="Calibri"/>
                <a:cs typeface="Calibri"/>
              </a:rPr>
              <a:t>La pobreza energética es un problema que afecta a alrededor de 1.7 millones de mexicanos que no tienen acceso a educación de calidad, abastecimiento de agua, conservación de alimentos y medicinas y  los condena a graves limitaciones que impiden el desarrollo de actividades productivas y recreativas.</a:t>
            </a:r>
            <a:endParaRPr lang="es-ES" sz="1600">
              <a:latin typeface="Montserrat"/>
            </a:endParaRPr>
          </a:p>
          <a:p>
            <a:endParaRPr lang="es-ES" sz="1100">
              <a:latin typeface="Montserrat" pitchFamily="2" charset="77"/>
              <a:ea typeface="Calibri"/>
              <a:cs typeface="Calibri"/>
            </a:endParaRPr>
          </a:p>
          <a:p>
            <a:r>
              <a:rPr lang="es-ES" sz="1600">
                <a:latin typeface="Montserrat"/>
                <a:ea typeface="Calibri"/>
                <a:cs typeface="Calibri"/>
              </a:rPr>
              <a:t>A partir del 2017, el gobierno de México ha realizado esfuerzos de proporcionar energía eléctrica a través de sistemas aislados de electrificación fotovoltaica cuya integración se basa en componentes importados. Los sistemas fotovoltaicos instalados en el país cuentan aproximadamente con un 45% de integración nacional. Lo anterior pone de manifiesto que existe una brecha importante entre el avance de tecnología mexicana y su innovación y la realidad de implementar dicha innovación.</a:t>
            </a:r>
            <a:endParaRPr lang="es-ES" sz="1600">
              <a:latin typeface="Montserrat"/>
            </a:endParaRPr>
          </a:p>
          <a:p>
            <a:endParaRPr lang="es-ES" sz="1600">
              <a:latin typeface="Montserrat" pitchFamily="2" charset="77"/>
              <a:ea typeface="Calibri"/>
              <a:cs typeface="Calibri"/>
            </a:endParaRPr>
          </a:p>
          <a:p>
            <a:endParaRPr lang="es-ES" sz="1600">
              <a:latin typeface="Montserrat" pitchFamily="2" charset="77"/>
              <a:ea typeface="Calibri"/>
              <a:cs typeface="Calibri"/>
            </a:endParaRPr>
          </a:p>
          <a:p>
            <a:endParaRPr lang="es-ES" sz="1600">
              <a:latin typeface="Montserrat" pitchFamily="2" charset="77"/>
              <a:ea typeface="Calibri"/>
              <a:cs typeface="Calibri"/>
            </a:endParaRPr>
          </a:p>
          <a:p>
            <a:endParaRPr lang="es-ES" sz="1600">
              <a:latin typeface="Montserrat" pitchFamily="2" charset="77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283957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E0E384-BDE3-69AD-A857-BA3F8E896B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23291975-0C42-C8D6-6634-C9D1068563A0}"/>
              </a:ext>
            </a:extLst>
          </p:cNvPr>
          <p:cNvSpPr txBox="1"/>
          <p:nvPr/>
        </p:nvSpPr>
        <p:spPr>
          <a:xfrm>
            <a:off x="1034143" y="799908"/>
            <a:ext cx="6100762" cy="74770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s-ES" altLang="es-MX" sz="3200" b="1">
                <a:solidFill>
                  <a:srgbClr val="6B0E34"/>
                </a:solidFill>
                <a:latin typeface="Montserrat"/>
                <a:ea typeface="Calibri" panose="020F0502020204030204"/>
                <a:cs typeface="Calibri" panose="020F0502020204030204"/>
              </a:rPr>
              <a:t>3. Antecedentes</a:t>
            </a:r>
            <a:endParaRPr lang="es-ES" altLang="es-MX" sz="3200" b="1">
              <a:solidFill>
                <a:srgbClr val="6B0E34"/>
              </a:solidFill>
              <a:latin typeface="Montserrat" pitchFamily="2" charset="77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4B07E6D0-ECE3-03AE-D8DE-111CBD240792}"/>
              </a:ext>
            </a:extLst>
          </p:cNvPr>
          <p:cNvSpPr txBox="1"/>
          <p:nvPr/>
        </p:nvSpPr>
        <p:spPr>
          <a:xfrm>
            <a:off x="1034143" y="1557208"/>
            <a:ext cx="4080781" cy="501675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s-ES" sz="1600">
                <a:latin typeface="Montserrat"/>
                <a:ea typeface="Calibri"/>
                <a:cs typeface="Calibri"/>
              </a:rPr>
              <a:t>En el año 2021 La Facultad de Ingeniería inició con  el diseño y desarrollo de marcos metodológicos para la electrificación de comunidades rurales y  se inició con la instalación de un sistema de generación fotovoltaico para una escuela rural en Las Joyas, Cadereyta de Montes</a:t>
            </a:r>
          </a:p>
          <a:p>
            <a:pPr algn="just"/>
            <a:endParaRPr lang="es-ES" sz="1600">
              <a:latin typeface="Montserrat" pitchFamily="2" charset="77"/>
              <a:ea typeface="Calibri"/>
              <a:cs typeface="Calibri"/>
            </a:endParaRPr>
          </a:p>
          <a:p>
            <a:pPr algn="just"/>
            <a:r>
              <a:rPr lang="es-ES" sz="1600">
                <a:latin typeface="Montserrat"/>
                <a:ea typeface="Calibri"/>
                <a:cs typeface="Calibri"/>
              </a:rPr>
              <a:t>En diciembre de 2024, se continuó con</a:t>
            </a:r>
            <a:r>
              <a:rPr lang="es-ES" sz="1600">
                <a:latin typeface="Montserrat"/>
                <a:ea typeface="+mn-lt"/>
                <a:cs typeface="+mn-lt"/>
              </a:rPr>
              <a:t> la validación y revisión de los marcos metodológicos empleados  en el proyecto de Las Joyas, empleándolos en caso de estudio: Proyecto de electrificación de la comunidad de Casa Blanca en el municipio de Pinal de Amoles.</a:t>
            </a:r>
            <a:endParaRPr lang="es-ES" sz="1600">
              <a:latin typeface="Montserrat"/>
            </a:endParaRPr>
          </a:p>
          <a:p>
            <a:pPr algn="just"/>
            <a:endParaRPr lang="es-ES" sz="1600">
              <a:latin typeface="Montserrat"/>
              <a:ea typeface="+mn-lt"/>
              <a:cs typeface="+mn-lt"/>
            </a:endParaRPr>
          </a:p>
          <a:p>
            <a:pPr algn="just"/>
            <a:endParaRPr lang="es-ES" sz="1600">
              <a:latin typeface="Montserrat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3A843674-E08A-2482-7EC0-CF9E06EE14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5518" y="3691434"/>
            <a:ext cx="3924021" cy="2616014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DC2C689A-CB0E-AED7-5B6D-DA85E0A414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95519" y="928683"/>
            <a:ext cx="3924020" cy="2616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51665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C5D18988-59E6-5934-62E4-7298766FE207}"/>
              </a:ext>
            </a:extLst>
          </p:cNvPr>
          <p:cNvSpPr txBox="1"/>
          <p:nvPr/>
        </p:nvSpPr>
        <p:spPr>
          <a:xfrm>
            <a:off x="692940" y="751343"/>
            <a:ext cx="5236378" cy="489364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just"/>
            <a:r>
              <a:rPr lang="es-ES" sz="1300">
                <a:latin typeface="Montserrat"/>
                <a:ea typeface="+mn-lt"/>
                <a:cs typeface="+mn-lt"/>
              </a:rPr>
              <a:t>La comunidad de Casa Blanca cuenta con 10 viviendas y 12 habitantes. </a:t>
            </a:r>
            <a:r>
              <a:rPr lang="es-ES" sz="1300" b="1">
                <a:latin typeface="Montserrat"/>
                <a:ea typeface="+mn-lt"/>
                <a:cs typeface="+mn-lt"/>
              </a:rPr>
              <a:t>Altura</a:t>
            </a:r>
            <a:r>
              <a:rPr lang="es-ES" sz="1300">
                <a:latin typeface="Montserrat"/>
                <a:ea typeface="+mn-lt"/>
                <a:cs typeface="+mn-lt"/>
              </a:rPr>
              <a:t>  2,324 metros , a 2.4 km al este de la cabecera municipal de Pinal de Amoles. </a:t>
            </a:r>
            <a:r>
              <a:rPr lang="es-ES" sz="1300" b="1">
                <a:latin typeface="Montserrat"/>
                <a:ea typeface="+mn-lt"/>
                <a:cs typeface="+mn-lt"/>
              </a:rPr>
              <a:t>Clima</a:t>
            </a:r>
            <a:r>
              <a:rPr lang="es-ES" sz="1300">
                <a:latin typeface="Montserrat"/>
                <a:ea typeface="+mn-lt"/>
                <a:cs typeface="+mn-lt"/>
              </a:rPr>
              <a:t> templado húmedo con lluvias en verano y una temperatura media anual entre 12°C y 18°C, </a:t>
            </a:r>
            <a:r>
              <a:rPr lang="es-ES" sz="1300" b="1">
                <a:latin typeface="Montserrat"/>
                <a:ea typeface="+mn-lt"/>
                <a:cs typeface="+mn-lt"/>
              </a:rPr>
              <a:t>precipitación media anual </a:t>
            </a:r>
            <a:r>
              <a:rPr lang="es-ES" sz="1300">
                <a:latin typeface="Montserrat"/>
                <a:ea typeface="+mn-lt"/>
                <a:cs typeface="+mn-lt"/>
              </a:rPr>
              <a:t>de 1000 </a:t>
            </a:r>
            <a:r>
              <a:rPr lang="es-ES" sz="1300" err="1">
                <a:latin typeface="Montserrat"/>
                <a:ea typeface="+mn-lt"/>
                <a:cs typeface="+mn-lt"/>
              </a:rPr>
              <a:t>mm.</a:t>
            </a:r>
            <a:r>
              <a:rPr lang="es-ES" sz="1300">
                <a:latin typeface="Montserrat"/>
                <a:ea typeface="+mn-lt"/>
                <a:cs typeface="+mn-lt"/>
              </a:rPr>
              <a:t> Flora predominante: bosques de pino, cedro y encino. Fauna: venado cola blanca, puma, tigrillo, gato montés, coyote, mapache y variedad de aves y reptiles. </a:t>
            </a:r>
            <a:endParaRPr lang="es-ES" sz="1300">
              <a:latin typeface="Montserrat"/>
            </a:endParaRPr>
          </a:p>
          <a:p>
            <a:pPr algn="just"/>
            <a:endParaRPr lang="es-ES" sz="1300">
              <a:latin typeface="Montserrat"/>
              <a:ea typeface="+mn-lt"/>
              <a:cs typeface="+mn-lt"/>
            </a:endParaRPr>
          </a:p>
          <a:p>
            <a:pPr algn="just"/>
            <a:r>
              <a:rPr lang="es-ES" sz="1300">
                <a:latin typeface="Montserrat"/>
                <a:ea typeface="Calibri"/>
                <a:cs typeface="Calibri"/>
              </a:rPr>
              <a:t>El 45% de Los habitantes de Casa Blanca con más de 15 años carecen de educación básica. El 100% de las viviendas, no cuentan con agua entubada pero cuentan con recolección de agua de lluvia con cisternas, 9 viviendas cuentan con fosa séptica y 1 vivienda no cuenta ni con baño ni fosa séptica, antes de iniciar proyecto ninguna vivienda contaba con energía eléctrica. La principal actividad económica en la comunidad es el trabajo agrícola y la construcción.</a:t>
            </a:r>
            <a:endParaRPr lang="en-US" sz="1300">
              <a:latin typeface="Montserrat"/>
              <a:ea typeface="Calibri"/>
              <a:cs typeface="Calibri"/>
            </a:endParaRPr>
          </a:p>
          <a:p>
            <a:pPr algn="just"/>
            <a:endParaRPr lang="es-ES" sz="1300">
              <a:latin typeface="Montserrat"/>
              <a:ea typeface="Calibri"/>
              <a:cs typeface="Calibri"/>
            </a:endParaRPr>
          </a:p>
          <a:p>
            <a:pPr algn="just"/>
            <a:r>
              <a:rPr lang="es-ES" sz="1300">
                <a:latin typeface="Montserrat"/>
                <a:ea typeface="Calibri"/>
                <a:cs typeface="Calibri"/>
              </a:rPr>
              <a:t>Los habitantes de la comunidad refieren que emplearán la energía eléctrica para facilitar tareas del hogar, mejorar la alimentación, el acceso a alimentos y el desarrollo de proyectos productivos. Además de atender a los enfermos en la noche y poder adquirir aparatos </a:t>
            </a:r>
            <a:r>
              <a:rPr lang="es-ES" sz="1300" err="1">
                <a:latin typeface="Montserrat"/>
                <a:ea typeface="Calibri"/>
                <a:cs typeface="Calibri"/>
              </a:rPr>
              <a:t>électricos</a:t>
            </a:r>
            <a:r>
              <a:rPr lang="es-ES" sz="1300">
                <a:latin typeface="Montserrat"/>
                <a:ea typeface="Calibri"/>
                <a:cs typeface="Calibri"/>
              </a:rPr>
              <a:t> como extractores de jugos, lavadora y hasta una televisión.</a:t>
            </a:r>
            <a:endParaRPr lang="en-US" sz="1300">
              <a:latin typeface="Montserrat"/>
              <a:ea typeface="Calibri"/>
              <a:cs typeface="Calibri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419E4091-4CEF-2F59-8504-A857C0F8C5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751342"/>
            <a:ext cx="4183170" cy="5577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54955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1565A7-6F7D-0ED8-72F4-CC84D2DD44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96F86C4E-05AB-8E6A-758C-69AC2E17C1B5}"/>
              </a:ext>
            </a:extLst>
          </p:cNvPr>
          <p:cNvSpPr txBox="1"/>
          <p:nvPr/>
        </p:nvSpPr>
        <p:spPr>
          <a:xfrm>
            <a:off x="1048431" y="442912"/>
            <a:ext cx="4366532" cy="547842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endParaRPr lang="es-ES" sz="1400">
              <a:latin typeface="Montserrat"/>
              <a:ea typeface="Calibri"/>
              <a:cs typeface="Calibri"/>
            </a:endParaRPr>
          </a:p>
          <a:p>
            <a:pPr algn="just"/>
            <a:r>
              <a:rPr lang="es-ES" sz="1400">
                <a:latin typeface="Montserrat"/>
                <a:ea typeface="Calibri"/>
                <a:cs typeface="Calibri"/>
              </a:rPr>
              <a:t>El proyecto todavía se encuentra en desarrollo y se tiene el siguiente avance:</a:t>
            </a:r>
            <a:endParaRPr lang="es-ES" sz="1400"/>
          </a:p>
          <a:p>
            <a:pPr algn="just"/>
            <a:endParaRPr lang="es-ES" sz="1400">
              <a:latin typeface="Montserrat"/>
              <a:ea typeface="Calibri"/>
              <a:cs typeface="Calibri"/>
            </a:endParaRPr>
          </a:p>
          <a:p>
            <a:pPr algn="just"/>
            <a:r>
              <a:rPr lang="es-ES" sz="1400">
                <a:latin typeface="Montserrat"/>
                <a:ea typeface="Calibri"/>
                <a:cs typeface="Calibri"/>
              </a:rPr>
              <a:t>En</a:t>
            </a:r>
            <a:r>
              <a:rPr lang="es-ES" sz="1400">
                <a:latin typeface="Montserrat"/>
                <a:ea typeface="+mn-lt"/>
                <a:cs typeface="+mn-lt"/>
              </a:rPr>
              <a:t> lo referente al Marco Metodológico para la Atención Social y Participación Comunitaria:  Se ha realizado ya el Diagnóstico social y Participativo que incluyó la identificación de actores clave, la evaluación socioeconómica y cultural y la sensibilización y consulta comunitaria sobre la energía solar y sus beneficios. Actualmente se está trabajando en el plan para el diseño e implementación del programa de participación comunitaria. </a:t>
            </a:r>
          </a:p>
          <a:p>
            <a:pPr algn="just"/>
            <a:endParaRPr lang="es-ES" sz="1400">
              <a:latin typeface="Montserrat"/>
              <a:ea typeface="+mn-lt"/>
              <a:cs typeface="+mn-lt"/>
            </a:endParaRPr>
          </a:p>
          <a:p>
            <a:pPr algn="just"/>
            <a:r>
              <a:rPr lang="es-ES" sz="1400">
                <a:latin typeface="Montserrat"/>
                <a:ea typeface="+mn-lt"/>
                <a:cs typeface="+mn-lt"/>
              </a:rPr>
              <a:t>En lo referente a Diseño e integración de Sistemas de Generación de Energía Fotovoltaica: Se ha realizado el Diagnóstico y Evaluación del Sitio, el Diseño del Sistema Fotovoltaico, Instalación y Puesta en Marcha. Actualmente se está trabajando en la etapa de pruebas y validación.  Se instaló un sistema fotovoltaico centralizado con capacitad de 500KW  </a:t>
            </a:r>
            <a:endParaRPr lang="es-ES" sz="1400">
              <a:latin typeface="Montserrat" pitchFamily="2" charset="77"/>
              <a:ea typeface="Calibri"/>
              <a:cs typeface="Calibri"/>
            </a:endParaRP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CD76572D-25DC-0EFD-A756-E74544D2E0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7948" y="550600"/>
            <a:ext cx="4134727" cy="5909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48051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EC9F8F-4125-648E-87B8-4B50FF98F6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E22DB089-D568-95EE-6FF3-BE898AECA9D4}"/>
              </a:ext>
            </a:extLst>
          </p:cNvPr>
          <p:cNvSpPr txBox="1"/>
          <p:nvPr/>
        </p:nvSpPr>
        <p:spPr>
          <a:xfrm>
            <a:off x="1034143" y="799908"/>
            <a:ext cx="6100762" cy="74770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s-ES" altLang="es-MX" sz="3200" b="1">
                <a:solidFill>
                  <a:srgbClr val="6B0E34"/>
                </a:solidFill>
                <a:latin typeface="Montserrat"/>
                <a:ea typeface="Calibri" panose="020F0502020204030204"/>
                <a:cs typeface="Calibri" panose="020F0502020204030204"/>
              </a:rPr>
              <a:t>4. Misión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3918B16E-64D7-E27D-A5B1-A2F37D75EB42}"/>
              </a:ext>
            </a:extLst>
          </p:cNvPr>
          <p:cNvSpPr txBox="1"/>
          <p:nvPr/>
        </p:nvSpPr>
        <p:spPr>
          <a:xfrm>
            <a:off x="1034143" y="2476301"/>
            <a:ext cx="8924246" cy="258532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s-ES">
                <a:latin typeface="Montserrat" pitchFamily="2" charset="77"/>
                <a:ea typeface="+mn-lt"/>
                <a:cs typeface="+mn-lt"/>
              </a:rPr>
              <a:t>Promover el acceso sostenible a la electricidad en comunidades rurales aisladas de Querétaro mediante la implementación de sistemas fotovoltaicos, mejorando la calidad de vida, impulsando el desarrollo socioeconómico y fomentando el uso de energías renovables. A partir del caso de estudio en Casa Blanca Pinal de  Amoles, el proyecto se ampliará y replicará en siete regiones de Querétaro, adaptando soluciones tecnológicas y estrategias de implementación a las necesidades específicas de cada comunidad, garantizando sostenibilidad, participación local y beneficios a largo plazo.</a:t>
            </a:r>
            <a:endParaRPr lang="es-ES">
              <a:latin typeface="Montserrat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42764943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1C4476-8A14-26B3-0527-1308B44456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791D8989-B69F-5066-9EBD-9E6D450E16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936741" y="543524"/>
            <a:ext cx="3057119" cy="369291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C4CBE497-91A9-9B2D-64EB-E459D260FE5B}"/>
              </a:ext>
            </a:extLst>
          </p:cNvPr>
          <p:cNvSpPr txBox="1"/>
          <p:nvPr/>
        </p:nvSpPr>
        <p:spPr>
          <a:xfrm>
            <a:off x="1034143" y="799908"/>
            <a:ext cx="6100762" cy="74770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s-ES" altLang="es-MX" sz="3200" b="1">
                <a:solidFill>
                  <a:srgbClr val="6B0E34"/>
                </a:solidFill>
                <a:latin typeface="Montserrat"/>
                <a:ea typeface="Calibri" panose="020F0502020204030204"/>
                <a:cs typeface="Calibri" panose="020F0502020204030204"/>
              </a:rPr>
              <a:t>5. Metas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7A813E46-076F-C9D1-D0C5-0C7073DE96A6}"/>
              </a:ext>
            </a:extLst>
          </p:cNvPr>
          <p:cNvSpPr txBox="1"/>
          <p:nvPr/>
        </p:nvSpPr>
        <p:spPr>
          <a:xfrm>
            <a:off x="1034143" y="1743075"/>
            <a:ext cx="8959717" cy="438767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65430" marR="179070" algn="just">
              <a:lnSpc>
                <a:spcPct val="114000"/>
              </a:lnSpc>
              <a:spcAft>
                <a:spcPts val="1000"/>
              </a:spcAft>
              <a:buNone/>
            </a:pPr>
            <a:r>
              <a:rPr lang="es-MX" sz="1600">
                <a:solidFill>
                  <a:srgbClr val="000000"/>
                </a:solidFill>
                <a:effectLst/>
                <a:latin typeface="Montserrat"/>
                <a:ea typeface="Calibri"/>
              </a:rPr>
              <a:t>Se propone la instalación de sistemas de generación de energía fotovoltaica en 6 comunidades del estado de Querétaro:  El Hortelano, Las Joyas, El Torno, Rancho La Luz y El Chivo en el municipio de Cadereyta, Tierra Adentro en el municipio de Colón y La Cercada en el municipio de Jalpan.</a:t>
            </a:r>
          </a:p>
          <a:p>
            <a:pPr marR="179070" algn="just">
              <a:lnSpc>
                <a:spcPct val="114000"/>
              </a:lnSpc>
              <a:spcAft>
                <a:spcPts val="1000"/>
              </a:spcAft>
              <a:buNone/>
            </a:pPr>
            <a:r>
              <a:rPr lang="es-MX" sz="1600" b="1">
                <a:solidFill>
                  <a:srgbClr val="000000"/>
                </a:solidFill>
                <a:effectLst/>
                <a:latin typeface="Montserrat"/>
                <a:ea typeface="Calibri"/>
              </a:rPr>
              <a:t>Alcance del proyecto:</a:t>
            </a:r>
            <a:endParaRPr lang="es-MX" sz="1600">
              <a:solidFill>
                <a:srgbClr val="000000"/>
              </a:solidFill>
              <a:effectLst/>
              <a:latin typeface="Montserrat"/>
              <a:ea typeface="Calibri"/>
            </a:endParaRPr>
          </a:p>
          <a:p>
            <a:pPr marL="342900" marR="179070" lvl="0" indent="-342900" algn="just">
              <a:lnSpc>
                <a:spcPct val="114000"/>
              </a:lnSpc>
              <a:spcAft>
                <a:spcPts val="1000"/>
              </a:spcAft>
              <a:buFont typeface="Symbol" pitchFamily="2" charset="2"/>
              <a:buChar char=""/>
            </a:pPr>
            <a:r>
              <a:rPr lang="es-MX" sz="1600">
                <a:solidFill>
                  <a:srgbClr val="000000"/>
                </a:solidFill>
                <a:effectLst/>
                <a:latin typeface="Montserrat"/>
                <a:ea typeface="Calibri"/>
              </a:rPr>
              <a:t>Proveer de energía solar fotovoltaica a hogares, escuelas de las comunidades mencionadas a través de sistemas de microrredes o sistemas aislados ara la electrificación de viviendas, proporcionando los servicios de iluminación (LED), conexión de refrigeradores, electrodomésticos básicos, bombas de agua o herramientas para desarrollo de una actividad económica.</a:t>
            </a:r>
          </a:p>
          <a:p>
            <a:pPr marL="342900" marR="179070" lvl="0" indent="-342900" algn="just">
              <a:lnSpc>
                <a:spcPct val="114000"/>
              </a:lnSpc>
              <a:spcAft>
                <a:spcPts val="1000"/>
              </a:spcAft>
              <a:buFont typeface="Symbol" pitchFamily="2" charset="2"/>
              <a:buChar char=""/>
            </a:pPr>
            <a:r>
              <a:rPr lang="es-MX" sz="1600">
                <a:solidFill>
                  <a:srgbClr val="000000"/>
                </a:solidFill>
                <a:latin typeface="Montserrat"/>
                <a:ea typeface="Calibri"/>
              </a:rPr>
              <a:t>Impulso</a:t>
            </a:r>
            <a:r>
              <a:rPr lang="es-MX" sz="1600">
                <a:solidFill>
                  <a:srgbClr val="000000"/>
                </a:solidFill>
                <a:effectLst/>
                <a:latin typeface="Montserrat"/>
                <a:ea typeface="Calibri"/>
              </a:rPr>
              <a:t> a la participación comunitaria a través de la capacitación en el uso y mantenimiento de los sistemas solares, organización de comités comunitarios para la gestión del proyecto, promoción del uso eficiente de la energía para maximizar beneficios</a:t>
            </a:r>
          </a:p>
        </p:txBody>
      </p:sp>
    </p:spTree>
    <p:extLst>
      <p:ext uri="{BB962C8B-B14F-4D97-AF65-F5344CB8AC3E}">
        <p14:creationId xmlns:p14="http://schemas.microsoft.com/office/powerpoint/2010/main" val="6550853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2E6152-5C59-653B-FE9C-3893F1A466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5088CE57-3910-3CE5-102C-6AE0EDB2D0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936741" y="220359"/>
            <a:ext cx="3057119" cy="369291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BDA9F8B5-6C65-79EA-EDF4-685516A6376B}"/>
              </a:ext>
            </a:extLst>
          </p:cNvPr>
          <p:cNvSpPr txBox="1"/>
          <p:nvPr/>
        </p:nvSpPr>
        <p:spPr>
          <a:xfrm>
            <a:off x="1082774" y="1582340"/>
            <a:ext cx="8911086" cy="3970318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ES">
              <a:latin typeface="Montserrat" pitchFamily="2" charset="77"/>
            </a:endParaRPr>
          </a:p>
          <a:p>
            <a:r>
              <a:rPr lang="es-ES">
                <a:latin typeface="Montserrat" pitchFamily="2" charset="77"/>
              </a:rPr>
              <a:t>El proyecto involucrará a la participación de distintas Instituciones de Educación Superior e Instituciones de Gobierno, tales como:</a:t>
            </a:r>
          </a:p>
          <a:p>
            <a:endParaRPr lang="es-ES">
              <a:latin typeface="Montserrat" pitchFamily="2" charset="7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>
                <a:latin typeface="Montserrat" pitchFamily="2" charset="77"/>
              </a:rPr>
              <a:t>UNAM: Modelo para operación y mantenimiento de infraestructura, Marco metodológico de resolución de conflictos en proyectos comunitarios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>
              <a:latin typeface="Montserrat" pitchFamily="2" charset="7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>
                <a:latin typeface="Montserrat" pitchFamily="2" charset="77"/>
              </a:rPr>
              <a:t>Facultad de Ingeniería, UAQ: Diseño y desarrollo de un inversor mexicano, Marco metodológico para la participación comunitaria en el diseño, implementación y mantenimiento del proyecto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>
              <a:latin typeface="Montserrat" pitchFamily="2" charset="7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>
                <a:latin typeface="Montserrat" pitchFamily="2" charset="77"/>
              </a:rPr>
              <a:t>Secretaría de Energía: regulación, fomento a I+D+i, articulación nacional </a:t>
            </a:r>
          </a:p>
          <a:p>
            <a:endParaRPr lang="es-ES">
              <a:latin typeface="Montserrat" pitchFamily="2" charset="77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AE1C9012-9173-C34C-934B-5BEC63DAA5F2}"/>
              </a:ext>
            </a:extLst>
          </p:cNvPr>
          <p:cNvSpPr txBox="1"/>
          <p:nvPr/>
        </p:nvSpPr>
        <p:spPr>
          <a:xfrm>
            <a:off x="1034143" y="799908"/>
            <a:ext cx="6100762" cy="74770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s-ES" altLang="es-MX" sz="3200" b="1">
                <a:solidFill>
                  <a:srgbClr val="6B0E34"/>
                </a:solidFill>
                <a:latin typeface="Montserrat"/>
                <a:ea typeface="Calibri" panose="020F0502020204030204"/>
                <a:cs typeface="Calibri" panose="020F0502020204030204"/>
              </a:rPr>
              <a:t>6. Gobernanza del proyecto</a:t>
            </a:r>
          </a:p>
        </p:txBody>
      </p:sp>
    </p:spTree>
    <p:extLst>
      <p:ext uri="{BB962C8B-B14F-4D97-AF65-F5344CB8AC3E}">
        <p14:creationId xmlns:p14="http://schemas.microsoft.com/office/powerpoint/2010/main" val="5330940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A60CC3-8110-8E84-E022-E6150C7CDA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0875876B-DA43-C5EA-C8C3-FA1BFC1CCF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936741" y="220359"/>
            <a:ext cx="3057119" cy="369291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0FF3A6D4-7C61-2491-577F-51BD7F63E437}"/>
              </a:ext>
            </a:extLst>
          </p:cNvPr>
          <p:cNvSpPr txBox="1"/>
          <p:nvPr/>
        </p:nvSpPr>
        <p:spPr>
          <a:xfrm>
            <a:off x="1034142" y="799908"/>
            <a:ext cx="9581471" cy="74770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s-ES" altLang="es-MX" sz="3200" b="1">
                <a:solidFill>
                  <a:srgbClr val="6B0E34"/>
                </a:solidFill>
                <a:latin typeface="Montserrat"/>
                <a:ea typeface="Calibri" panose="020F0502020204030204"/>
                <a:cs typeface="Calibri" panose="020F0502020204030204"/>
              </a:rPr>
              <a:t>7. Tiempos y Financiamiento del proyecto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6BD4DE0C-CA87-25F7-80AB-FABA7F0ACEB9}"/>
              </a:ext>
            </a:extLst>
          </p:cNvPr>
          <p:cNvSpPr txBox="1"/>
          <p:nvPr/>
        </p:nvSpPr>
        <p:spPr>
          <a:xfrm>
            <a:off x="1614488" y="2078020"/>
            <a:ext cx="8379372" cy="379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51180" marR="179070" indent="-285750" algn="just">
              <a:lnSpc>
                <a:spcPct val="114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s-MX" sz="1800">
                <a:solidFill>
                  <a:srgbClr val="000000"/>
                </a:solidFill>
                <a:effectLst/>
                <a:latin typeface="Montserrat" pitchFamily="2" charset="77"/>
                <a:ea typeface="Calibri" panose="020F0502020204030204" pitchFamily="34" charset="0"/>
              </a:rPr>
              <a:t>Tiempo aproximado duración del proyecto: </a:t>
            </a:r>
            <a:r>
              <a:rPr lang="es-MX" sz="1800" b="1">
                <a:solidFill>
                  <a:srgbClr val="000000"/>
                </a:solidFill>
                <a:effectLst/>
                <a:latin typeface="Montserrat" pitchFamily="2" charset="77"/>
                <a:ea typeface="Calibri" panose="020F0502020204030204" pitchFamily="34" charset="0"/>
              </a:rPr>
              <a:t>18 meses</a:t>
            </a:r>
          </a:p>
          <a:p>
            <a:pPr marL="551180" marR="179070" indent="-285750" algn="just">
              <a:lnSpc>
                <a:spcPct val="114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endParaRPr lang="es-MX" b="1">
              <a:solidFill>
                <a:srgbClr val="000000"/>
              </a:solidFill>
              <a:latin typeface="Montserrat" pitchFamily="2" charset="77"/>
              <a:ea typeface="Calibri" panose="020F0502020204030204" pitchFamily="34" charset="0"/>
            </a:endParaRPr>
          </a:p>
          <a:p>
            <a:pPr marL="551180" marR="179070" indent="-285750" algn="just">
              <a:lnSpc>
                <a:spcPct val="114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endParaRPr lang="es-MX" sz="1800">
              <a:solidFill>
                <a:srgbClr val="000000"/>
              </a:solidFill>
              <a:effectLst/>
              <a:latin typeface="Montserrat" pitchFamily="2" charset="77"/>
              <a:ea typeface="Calibri" panose="020F0502020204030204" pitchFamily="34" charset="0"/>
            </a:endParaRPr>
          </a:p>
          <a:p>
            <a:pPr marL="551180" marR="179070" indent="-285750" algn="just">
              <a:lnSpc>
                <a:spcPct val="114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s-MX" sz="1800">
                <a:solidFill>
                  <a:srgbClr val="000000"/>
                </a:solidFill>
                <a:effectLst/>
                <a:latin typeface="Montserrat" pitchFamily="2" charset="77"/>
                <a:ea typeface="Calibri" panose="020F0502020204030204" pitchFamily="34" charset="0"/>
              </a:rPr>
              <a:t>Costo estimado de diseño de sistemas fotovoltaicos </a:t>
            </a:r>
            <a:r>
              <a:rPr lang="es-MX" sz="1800" b="1">
                <a:solidFill>
                  <a:srgbClr val="000000"/>
                </a:solidFill>
                <a:effectLst/>
                <a:latin typeface="Montserrat" pitchFamily="2" charset="77"/>
                <a:ea typeface="Calibri" panose="020F0502020204030204" pitchFamily="34" charset="0"/>
              </a:rPr>
              <a:t>$670,000 </a:t>
            </a:r>
            <a:endParaRPr lang="es-MX" sz="1800">
              <a:solidFill>
                <a:srgbClr val="000000"/>
              </a:solidFill>
              <a:effectLst/>
              <a:latin typeface="Montserrat" pitchFamily="2" charset="77"/>
              <a:ea typeface="Calibri" panose="020F0502020204030204" pitchFamily="34" charset="0"/>
            </a:endParaRPr>
          </a:p>
          <a:p>
            <a:pPr marL="551180" marR="179070" indent="-285750" algn="just">
              <a:lnSpc>
                <a:spcPct val="114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s-MX" sz="1800">
                <a:solidFill>
                  <a:srgbClr val="000000"/>
                </a:solidFill>
                <a:effectLst/>
                <a:latin typeface="Montserrat" pitchFamily="2" charset="77"/>
                <a:ea typeface="Calibri" panose="020F0502020204030204" pitchFamily="34" charset="0"/>
              </a:rPr>
              <a:t>Traslados (Gasolina y viáticos):</a:t>
            </a:r>
            <a:r>
              <a:rPr lang="es-MX" sz="1800" b="1">
                <a:solidFill>
                  <a:srgbClr val="000000"/>
                </a:solidFill>
                <a:effectLst/>
                <a:latin typeface="Montserrat" pitchFamily="2" charset="77"/>
                <a:ea typeface="Calibri" panose="020F0502020204030204" pitchFamily="34" charset="0"/>
              </a:rPr>
              <a:t>$210,000</a:t>
            </a:r>
          </a:p>
          <a:p>
            <a:pPr marL="551180" marR="179070" indent="-285750" algn="just">
              <a:lnSpc>
                <a:spcPct val="114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s-MX" sz="1800">
                <a:solidFill>
                  <a:srgbClr val="000000"/>
                </a:solidFill>
                <a:effectLst/>
                <a:latin typeface="Montserrat" pitchFamily="2" charset="77"/>
                <a:ea typeface="Calibri" panose="020F0502020204030204" pitchFamily="34" charset="0"/>
              </a:rPr>
              <a:t>Diseño e implementación de SW y HW para inversores y administración energía en batería: </a:t>
            </a:r>
            <a:r>
              <a:rPr lang="es-MX" sz="1800" b="1">
                <a:solidFill>
                  <a:srgbClr val="000000"/>
                </a:solidFill>
                <a:effectLst/>
                <a:latin typeface="Montserrat" pitchFamily="2" charset="77"/>
                <a:ea typeface="Calibri" panose="020F0502020204030204" pitchFamily="34" charset="0"/>
              </a:rPr>
              <a:t>$220,000</a:t>
            </a:r>
          </a:p>
          <a:p>
            <a:pPr marL="551180" marR="179070" indent="-285750" algn="just">
              <a:lnSpc>
                <a:spcPct val="114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endParaRPr lang="es-MX" b="1">
              <a:solidFill>
                <a:srgbClr val="000000"/>
              </a:solidFill>
              <a:latin typeface="Montserrat" pitchFamily="2" charset="77"/>
            </a:endParaRPr>
          </a:p>
          <a:p>
            <a:pPr marL="265430" marR="179070" algn="r">
              <a:lnSpc>
                <a:spcPct val="114000"/>
              </a:lnSpc>
              <a:spcAft>
                <a:spcPts val="800"/>
              </a:spcAft>
            </a:pPr>
            <a:r>
              <a:rPr lang="es-MX" sz="2800" b="1">
                <a:solidFill>
                  <a:srgbClr val="A8812D"/>
                </a:solidFill>
                <a:effectLst/>
                <a:latin typeface="Montserrat" pitchFamily="2" charset="77"/>
              </a:rPr>
              <a:t>Monto Total: $1,100,000 MNX</a:t>
            </a:r>
            <a:r>
              <a:rPr lang="es-MX" sz="2800">
                <a:solidFill>
                  <a:srgbClr val="A8812D"/>
                </a:solidFill>
                <a:effectLst/>
                <a:latin typeface="Montserrat" pitchFamily="2" charset="77"/>
              </a:rPr>
              <a:t> </a:t>
            </a:r>
            <a:endParaRPr lang="es-MX" sz="2800">
              <a:solidFill>
                <a:srgbClr val="A8812D"/>
              </a:solidFill>
              <a:effectLst/>
              <a:latin typeface="Montserrat" pitchFamily="2" charset="77"/>
              <a:ea typeface="Calibri" panose="020F0502020204030204" pitchFamily="34" charset="0"/>
            </a:endParaRPr>
          </a:p>
        </p:txBody>
      </p: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8C2B6CB6-BDFD-3367-737B-B82B7AE2D1D4}"/>
              </a:ext>
            </a:extLst>
          </p:cNvPr>
          <p:cNvCxnSpPr/>
          <p:nvPr/>
        </p:nvCxnSpPr>
        <p:spPr>
          <a:xfrm>
            <a:off x="1614488" y="2843204"/>
            <a:ext cx="8158162" cy="0"/>
          </a:xfrm>
          <a:prstGeom prst="line">
            <a:avLst/>
          </a:prstGeom>
          <a:ln>
            <a:solidFill>
              <a:srgbClr val="6B0E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19C388F1-7D4E-C62C-4691-9E10CC873485}"/>
              </a:ext>
            </a:extLst>
          </p:cNvPr>
          <p:cNvCxnSpPr/>
          <p:nvPr/>
        </p:nvCxnSpPr>
        <p:spPr>
          <a:xfrm>
            <a:off x="1614488" y="5057766"/>
            <a:ext cx="8158162" cy="0"/>
          </a:xfrm>
          <a:prstGeom prst="line">
            <a:avLst/>
          </a:prstGeom>
          <a:ln>
            <a:solidFill>
              <a:srgbClr val="6B0E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7670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Panorámica</PresentationFormat>
  <Slides>11</Slides>
  <Notes>1</Notes>
  <HiddenSlides>0</HiddenSlide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2" baseType="lpstr"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MARTHA LUCIA SAAVEDRA RIVERA</dc:creator>
  <cp:revision>2</cp:revision>
  <dcterms:created xsi:type="dcterms:W3CDTF">2025-03-24T20:54:34Z</dcterms:created>
  <dcterms:modified xsi:type="dcterms:W3CDTF">2025-03-25T00:35:49Z</dcterms:modified>
</cp:coreProperties>
</file>